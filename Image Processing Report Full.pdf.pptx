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7772400" cy="10058400"/>
  <p:notesSz cx="6858000" cy="9144000"/>
  <p:embeddedFontLst>
    <p:embeddedFont>
      <p:font typeface="Jimmy Script Bold" charset="1" panose="00000000000000000000"/>
      <p:regular r:id="rId23"/>
    </p:embeddedFont>
    <p:embeddedFont>
      <p:font typeface="Distillery Display" charset="1" panose="00000000000000000000"/>
      <p:regular r:id="rId24"/>
    </p:embeddedFont>
    <p:embeddedFont>
      <p:font typeface="Open Sans Bold" charset="1" panose="020B0806030504020204"/>
      <p:regular r:id="rId25"/>
    </p:embeddedFont>
    <p:embeddedFont>
      <p:font typeface="Open Sans" charset="1" panose="020B0606030504020204"/>
      <p:regular r:id="rId26"/>
    </p:embeddedFont>
    <p:embeddedFont>
      <p:font typeface="Montserrat" charset="1" panose="00000500000000000000"/>
      <p:regular r:id="rId27"/>
    </p:embeddedFont>
    <p:embeddedFont>
      <p:font typeface="Open Sans Italics" charset="1" panose="020B0606030504020204"/>
      <p:regular r:id="rId28"/>
    </p:embeddedFont>
    <p:embeddedFont>
      <p:font typeface="Montserrat Italics" charset="1" panose="00000500000000000000"/>
      <p:regular r:id="rId29"/>
    </p:embeddedFont>
    <p:embeddedFont>
      <p:font typeface="SK Quadratica" charset="1" panose="000000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jpeg" Type="http://schemas.openxmlformats.org/officeDocument/2006/relationships/image"/><Relationship Id="rId4" Target="../media/image22.jpeg" Type="http://schemas.openxmlformats.org/officeDocument/2006/relationships/image"/><Relationship Id="rId5" Target="../media/image2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jpeg" Type="http://schemas.openxmlformats.org/officeDocument/2006/relationships/image"/><Relationship Id="rId4" Target="../media/image2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28.jpeg" Type="http://schemas.openxmlformats.org/officeDocument/2006/relationships/image"/><Relationship Id="rId4" Target="../media/image2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jpeg" Type="http://schemas.openxmlformats.org/officeDocument/2006/relationships/image"/><Relationship Id="rId3" Target="../media/image32.jpeg" Type="http://schemas.openxmlformats.org/officeDocument/2006/relationships/image"/><Relationship Id="rId4" Target="../media/image33.jpeg" Type="http://schemas.openxmlformats.org/officeDocument/2006/relationships/image"/><Relationship Id="rId5" Target="../media/image3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3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39.pn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283341"/>
            <a:ext cx="7772400" cy="12951074"/>
            <a:chOff x="0" y="0"/>
            <a:chExt cx="2709333" cy="45145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9333" cy="4514536"/>
            </a:xfrm>
            <a:custGeom>
              <a:avLst/>
              <a:gdLst/>
              <a:ahLst/>
              <a:cxnLst/>
              <a:rect r="r" b="b" t="t" l="l"/>
              <a:pathLst>
                <a:path h="4514536" w="2709333">
                  <a:moveTo>
                    <a:pt x="38100" y="0"/>
                  </a:moveTo>
                  <a:lnTo>
                    <a:pt x="2671233" y="0"/>
                  </a:lnTo>
                  <a:cubicBezTo>
                    <a:pt x="2681338" y="0"/>
                    <a:pt x="2691029" y="4014"/>
                    <a:pt x="2698174" y="11159"/>
                  </a:cubicBezTo>
                  <a:cubicBezTo>
                    <a:pt x="2705319" y="18304"/>
                    <a:pt x="2709333" y="27995"/>
                    <a:pt x="2709333" y="38100"/>
                  </a:cubicBezTo>
                  <a:lnTo>
                    <a:pt x="2709333" y="4476436"/>
                  </a:lnTo>
                  <a:cubicBezTo>
                    <a:pt x="2709333" y="4497478"/>
                    <a:pt x="2692275" y="4514536"/>
                    <a:pt x="2671233" y="4514536"/>
                  </a:cubicBezTo>
                  <a:lnTo>
                    <a:pt x="38100" y="4514536"/>
                  </a:lnTo>
                  <a:cubicBezTo>
                    <a:pt x="27995" y="4514536"/>
                    <a:pt x="18304" y="4510522"/>
                    <a:pt x="11159" y="4503376"/>
                  </a:cubicBezTo>
                  <a:cubicBezTo>
                    <a:pt x="4014" y="4496231"/>
                    <a:pt x="0" y="4486540"/>
                    <a:pt x="0" y="4476436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D1D1D1"/>
            </a:solidFill>
            <a:ln cap="rnd">
              <a:noFill/>
              <a:prstDash val="sysDot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04775"/>
              <a:ext cx="2709333" cy="4619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73"/>
                </a:lnSpc>
              </a:pPr>
            </a:p>
            <a:p>
              <a:pPr algn="ctr">
                <a:lnSpc>
                  <a:spcPts val="7913"/>
                </a:lnSpc>
              </a:pPr>
              <a:r>
                <a:rPr lang="en-US" b="true" sz="5652" spc="5" u="sng">
                  <a:solidFill>
                    <a:srgbClr val="0A0783"/>
                  </a:solidFill>
                  <a:latin typeface="Jimmy Script Bold"/>
                  <a:ea typeface="Jimmy Script Bold"/>
                  <a:cs typeface="Jimmy Script Bold"/>
                  <a:sym typeface="Jimmy Script Bold"/>
                </a:rPr>
                <a:t>IMAGE   PROCESSING</a:t>
              </a:r>
            </a:p>
            <a:p>
              <a:pPr algn="ctr">
                <a:lnSpc>
                  <a:spcPts val="5879"/>
                </a:lnSpc>
              </a:pPr>
            </a:p>
            <a:p>
              <a:pPr algn="ctr">
                <a:lnSpc>
                  <a:spcPts val="5879"/>
                </a:lnSpc>
              </a:pPr>
            </a:p>
            <a:p>
              <a:pPr algn="ctr">
                <a:lnSpc>
                  <a:spcPts val="6299"/>
                </a:lnSpc>
              </a:pPr>
              <a:r>
                <a:rPr lang="en-US" sz="4499" spc="4">
                  <a:solidFill>
                    <a:srgbClr val="0A0783"/>
                  </a:solidFill>
                  <a:latin typeface="Distillery Display"/>
                  <a:ea typeface="Distillery Display"/>
                  <a:cs typeface="Distillery Display"/>
                  <a:sym typeface="Distillery Display"/>
                </a:rPr>
                <a:t>SUPERVISOR :DR MAHMOUD ZAKI</a:t>
              </a:r>
            </a:p>
            <a:p>
              <a:pPr algn="ctr">
                <a:lnSpc>
                  <a:spcPts val="7073"/>
                </a:lnSpc>
              </a:pPr>
            </a:p>
            <a:p>
              <a:pPr algn="ctr">
                <a:lnSpc>
                  <a:spcPts val="7073"/>
                </a:lnSpc>
              </a:pPr>
            </a:p>
            <a:p>
              <a:pPr algn="ctr">
                <a:lnSpc>
                  <a:spcPts val="7073"/>
                </a:lnSpc>
              </a:pPr>
            </a:p>
            <a:p>
              <a:pPr algn="ctr">
                <a:lnSpc>
                  <a:spcPts val="7073"/>
                </a:lnSpc>
              </a:pPr>
            </a:p>
            <a:p>
              <a:pPr algn="ctr">
                <a:lnSpc>
                  <a:spcPts val="7073"/>
                </a:lnSpc>
              </a:pPr>
            </a:p>
            <a:p>
              <a:pPr algn="ctr">
                <a:lnSpc>
                  <a:spcPts val="7073"/>
                </a:lnSpc>
              </a:pPr>
            </a:p>
            <a:p>
              <a:pPr algn="ctr">
                <a:lnSpc>
                  <a:spcPts val="7073"/>
                </a:lnSpc>
              </a:pPr>
            </a:p>
            <a:p>
              <a:pPr algn="ctr">
                <a:lnSpc>
                  <a:spcPts val="7073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600" y="4400931"/>
            <a:ext cx="5791200" cy="772563"/>
          </a:xfrm>
          <a:custGeom>
            <a:avLst/>
            <a:gdLst/>
            <a:ahLst/>
            <a:cxnLst/>
            <a:rect r="r" b="b" t="t" l="l"/>
            <a:pathLst>
              <a:path h="772563" w="5791200">
                <a:moveTo>
                  <a:pt x="0" y="0"/>
                </a:moveTo>
                <a:lnTo>
                  <a:pt x="5791200" y="0"/>
                </a:lnTo>
                <a:lnTo>
                  <a:pt x="5791200" y="772563"/>
                </a:lnTo>
                <a:lnTo>
                  <a:pt x="0" y="772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35890" y="8402317"/>
            <a:ext cx="2770308" cy="209550"/>
          </a:xfrm>
          <a:custGeom>
            <a:avLst/>
            <a:gdLst/>
            <a:ahLst/>
            <a:cxnLst/>
            <a:rect r="r" b="b" t="t" l="l"/>
            <a:pathLst>
              <a:path h="209550" w="2770308">
                <a:moveTo>
                  <a:pt x="0" y="0"/>
                </a:moveTo>
                <a:lnTo>
                  <a:pt x="2770308" y="0"/>
                </a:lnTo>
                <a:lnTo>
                  <a:pt x="2770308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35890" y="6084037"/>
            <a:ext cx="1810026" cy="209550"/>
          </a:xfrm>
          <a:custGeom>
            <a:avLst/>
            <a:gdLst/>
            <a:ahLst/>
            <a:cxnLst/>
            <a:rect r="r" b="b" t="t" l="l"/>
            <a:pathLst>
              <a:path h="209550" w="1810026">
                <a:moveTo>
                  <a:pt x="0" y="0"/>
                </a:moveTo>
                <a:lnTo>
                  <a:pt x="1810026" y="0"/>
                </a:lnTo>
                <a:lnTo>
                  <a:pt x="1810026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35890" y="7243181"/>
            <a:ext cx="1810026" cy="209550"/>
          </a:xfrm>
          <a:custGeom>
            <a:avLst/>
            <a:gdLst/>
            <a:ahLst/>
            <a:cxnLst/>
            <a:rect r="r" b="b" t="t" l="l"/>
            <a:pathLst>
              <a:path h="209550" w="1810026">
                <a:moveTo>
                  <a:pt x="0" y="0"/>
                </a:moveTo>
                <a:lnTo>
                  <a:pt x="1810026" y="0"/>
                </a:lnTo>
                <a:lnTo>
                  <a:pt x="1810026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90600" y="944823"/>
            <a:ext cx="5120134" cy="43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b="true" sz="1899" spc="1">
                <a:solidFill>
                  <a:srgbClr val="FF313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Image Processing and Filtering Techniques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37533" y="1414415"/>
            <a:ext cx="45472" cy="38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1350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1557290"/>
            <a:ext cx="1306173" cy="24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95451" y="2206533"/>
            <a:ext cx="30309" cy="256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" y="2518743"/>
            <a:ext cx="1698422" cy="38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b="true" sz="1350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System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5252895"/>
            <a:ext cx="2062609" cy="334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4"/>
              </a:lnSpc>
            </a:pPr>
            <a:r>
              <a:rPr lang="en-US" b="true" sz="1350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 Edge Detection Filters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1512" y="5657012"/>
            <a:ext cx="35462" cy="28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b="true" sz="1052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53510" y="9511255"/>
            <a:ext cx="66685" cy="16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0">
                <a:solidFill>
                  <a:srgbClr val="6E6E6E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8905" y="6084065"/>
            <a:ext cx="619420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83515" y="6092047"/>
            <a:ext cx="1748790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sobelx_func(frame, ksize)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8905" y="6260792"/>
            <a:ext cx="2974915" cy="51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Description: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Computes horizontal intensity changes. 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Input: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Color frame, kernel size. 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Output: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Grayscale image highlighting vertical edges.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8905" y="7243201"/>
            <a:ext cx="619420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83515" y="7251182"/>
            <a:ext cx="1748790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sobely_func(frame, ksize)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4954" y="7331569"/>
            <a:ext cx="3133935" cy="51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Description: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Computes vertical intensity changes. 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Input: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Color frame, kernel size. 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Output: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Grayscale image highlighting horizontal edges.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8905" y="8402345"/>
            <a:ext cx="619420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83515" y="8410327"/>
            <a:ext cx="2728112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gradient_magnitude_func(sobelx, sobely)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8905" y="8579082"/>
            <a:ext cx="3494075" cy="513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Description: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Combines Sobel X &amp; Y to compute edge strength. 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Input: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Sobel X and Y images. 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Output: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Grayscale image representing edge magnitude.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8905" y="3053686"/>
            <a:ext cx="5234597" cy="680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• Real-time video capture from the default webcam. • Keyboard-based mode selection for different filters. • Spatial domain filters operate directly on pixels. • Frequency domain filters manipulate the Fourier transform of images. • Processed frames are displayed with overlayed text showing the applied filter and parameters.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0600" y="3939511"/>
            <a:ext cx="838257" cy="256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Program Flow: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0600" y="1949358"/>
            <a:ext cx="5907062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350"/>
              </a:lnSpc>
            </a:pPr>
            <a:r>
              <a:rPr lang="en-US" sz="900" spc="9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This project demonstrates a comprehensive set of image processing techniques, including edge detection and both spatial and frequency domain filtering, applied in real-time using webcam input. The goal is 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0600" y="2292258"/>
            <a:ext cx="4416514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analyzethe effectsof differentfilters and understand their practical applications.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14425" y="4502868"/>
            <a:ext cx="4756718" cy="16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3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[Start] → [Capture Frame from Camera] → [Check Key Press → Set Mode]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14425" y="4687748"/>
            <a:ext cx="69952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3"/>
              </a:lnSpc>
            </a:pPr>
            <a:r>
              <a:rPr lang="en-US" sz="900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63065" y="4687748"/>
            <a:ext cx="3858071" cy="164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3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→ [Apply Selected Filter] → [Display Frame with Overlay Text]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4425" y="4867180"/>
            <a:ext cx="1259129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3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until 'q' pressed]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052195" y="4705255"/>
            <a:ext cx="419710" cy="15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[Loop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846455" y="4689119"/>
            <a:ext cx="209855" cy="17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 →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0600" y="5771312"/>
            <a:ext cx="494576" cy="17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"/>
              </a:lnSpc>
            </a:pPr>
            <a:r>
              <a:rPr lang="en-US" b="true" sz="1052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SobelX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0600" y="6930457"/>
            <a:ext cx="488709" cy="17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"/>
              </a:lnSpc>
            </a:pPr>
            <a:r>
              <a:rPr lang="en-US" b="true" sz="1052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Sobel 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0600" y="8089592"/>
            <a:ext cx="1377467" cy="17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"/>
              </a:lnSpc>
            </a:pPr>
            <a:r>
              <a:rPr lang="en-US" b="true" sz="1052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Gradient Magnitude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35890" y="1234964"/>
            <a:ext cx="2427351" cy="209550"/>
          </a:xfrm>
          <a:custGeom>
            <a:avLst/>
            <a:gdLst/>
            <a:ahLst/>
            <a:cxnLst/>
            <a:rect r="r" b="b" t="t" l="l"/>
            <a:pathLst>
              <a:path h="209550" w="2427351">
                <a:moveTo>
                  <a:pt x="0" y="0"/>
                </a:moveTo>
                <a:lnTo>
                  <a:pt x="2427351" y="0"/>
                </a:lnTo>
                <a:lnTo>
                  <a:pt x="2427351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53339" y="7000342"/>
            <a:ext cx="3697034" cy="1043483"/>
          </a:xfrm>
          <a:custGeom>
            <a:avLst/>
            <a:gdLst/>
            <a:ahLst/>
            <a:cxnLst/>
            <a:rect r="r" b="b" t="t" l="l"/>
            <a:pathLst>
              <a:path h="1043483" w="3697034">
                <a:moveTo>
                  <a:pt x="0" y="0"/>
                </a:moveTo>
                <a:lnTo>
                  <a:pt x="3697034" y="0"/>
                </a:lnTo>
                <a:lnTo>
                  <a:pt x="3697034" y="1043482"/>
                </a:lnTo>
                <a:lnTo>
                  <a:pt x="0" y="10434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44845" y="5825357"/>
            <a:ext cx="3546224" cy="866746"/>
          </a:xfrm>
          <a:custGeom>
            <a:avLst/>
            <a:gdLst/>
            <a:ahLst/>
            <a:cxnLst/>
            <a:rect r="r" b="b" t="t" l="l"/>
            <a:pathLst>
              <a:path h="866746" w="3546224">
                <a:moveTo>
                  <a:pt x="0" y="0"/>
                </a:moveTo>
                <a:lnTo>
                  <a:pt x="3546224" y="0"/>
                </a:lnTo>
                <a:lnTo>
                  <a:pt x="3546224" y="866746"/>
                </a:lnTo>
                <a:lnTo>
                  <a:pt x="0" y="866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26490" y="2910107"/>
            <a:ext cx="1848145" cy="690020"/>
          </a:xfrm>
          <a:custGeom>
            <a:avLst/>
            <a:gdLst/>
            <a:ahLst/>
            <a:cxnLst/>
            <a:rect r="r" b="b" t="t" l="l"/>
            <a:pathLst>
              <a:path h="690020" w="1848145">
                <a:moveTo>
                  <a:pt x="0" y="0"/>
                </a:moveTo>
                <a:lnTo>
                  <a:pt x="1848145" y="0"/>
                </a:lnTo>
                <a:lnTo>
                  <a:pt x="1848145" y="690019"/>
                </a:lnTo>
                <a:lnTo>
                  <a:pt x="0" y="69001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76853" y="3908365"/>
            <a:ext cx="2659485" cy="981046"/>
          </a:xfrm>
          <a:custGeom>
            <a:avLst/>
            <a:gdLst/>
            <a:ahLst/>
            <a:cxnLst/>
            <a:rect r="r" b="b" t="t" l="l"/>
            <a:pathLst>
              <a:path h="981046" w="2659485">
                <a:moveTo>
                  <a:pt x="0" y="0"/>
                </a:moveTo>
                <a:lnTo>
                  <a:pt x="2659485" y="0"/>
                </a:lnTo>
                <a:lnTo>
                  <a:pt x="2659485" y="981046"/>
                </a:lnTo>
                <a:lnTo>
                  <a:pt x="0" y="9810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0600" y="5576125"/>
            <a:ext cx="844296" cy="17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"/>
              </a:lnSpc>
            </a:pPr>
            <a:r>
              <a:rPr lang="en-US" b="true" sz="1052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Mean Filters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6977" y="2734704"/>
            <a:ext cx="1086126" cy="17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"/>
              </a:lnSpc>
            </a:pPr>
            <a:r>
              <a:rPr lang="en-US" b="true" sz="1052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Low-Pass Filters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0600" y="3659134"/>
            <a:ext cx="1132503" cy="17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"/>
              </a:lnSpc>
            </a:pPr>
            <a:r>
              <a:rPr lang="en-US" b="true" sz="1052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High-Pass Filters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0600" y="922230"/>
            <a:ext cx="1492996" cy="17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"/>
              </a:lnSpc>
            </a:pPr>
            <a:r>
              <a:rPr lang="en-US" b="true" sz="1052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Canny Edge Detection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0600" y="6751120"/>
            <a:ext cx="1459849" cy="175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4"/>
              </a:lnSpc>
            </a:pPr>
            <a:r>
              <a:rPr lang="en-US" b="true" sz="1052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Order-Statistic Filters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600" y="8498843"/>
            <a:ext cx="959739" cy="16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Illustrative Image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5870" y="7063873"/>
            <a:ext cx="999496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1.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Median Filter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5870" y="7240600"/>
            <a:ext cx="812025" cy="347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Min Filter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- 3.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Max Filter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5870" y="7594073"/>
            <a:ext cx="1092298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4.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Midpoint Filter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5870" y="7770800"/>
            <a:ext cx="1811988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5.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Alpha-Trimmed Mean Filter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5870" y="5888879"/>
            <a:ext cx="1546060" cy="523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1.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Arithmetic Mean Filter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- 2.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Geometric Mean Filter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- 3.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Harmonic Mean Filter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5870" y="6419078"/>
            <a:ext cx="1873768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4.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Contraharmonic Mean Filter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5870" y="2973629"/>
            <a:ext cx="1779003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1.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ILPF (Ideal Low-Pass Filter)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5870" y="3150365"/>
            <a:ext cx="2053923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GLPF (Gaussian Low-Pass Filter)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45870" y="3327092"/>
            <a:ext cx="2248043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3.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BLPF (Butterworth Low-Pass Filter)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5870" y="3971887"/>
            <a:ext cx="1841944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1.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IHPF (Ideal High-Pass Filter)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5870" y="4148623"/>
            <a:ext cx="2116865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GHPF (Gaussian High-Pass Filter)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5870" y="4325350"/>
            <a:ext cx="2310984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3.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BHPF (Butterworth High-Pass Filter)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0600" y="4530662"/>
            <a:ext cx="2118655" cy="87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900" i="true" spc="17">
                <a:solidFill>
                  <a:srgbClr val="050505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All frequency filters use </a:t>
            </a:r>
          </a:p>
          <a:p>
            <a:pPr algn="l">
              <a:lnSpc>
                <a:spcPts val="532"/>
              </a:lnSpc>
            </a:pPr>
            <a:r>
              <a:rPr lang="en-US" sz="900" i="true" spc="0">
                <a:solidFill>
                  <a:srgbClr val="050505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reconstruct the image.</a:t>
            </a:r>
          </a:p>
          <a:p>
            <a:pPr algn="l">
              <a:lnSpc>
                <a:spcPts val="1889"/>
              </a:lnSpc>
            </a:pPr>
            <a:r>
              <a:rPr lang="en-US" b="true" sz="1350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 Spatial Domain Filters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853510" y="9511255"/>
            <a:ext cx="66685" cy="16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0">
                <a:solidFill>
                  <a:srgbClr val="6E6E6E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776015" y="4625912"/>
            <a:ext cx="3065707" cy="16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i="true" spc="17">
                <a:solidFill>
                  <a:srgbClr val="050505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 to compute the Fourier transform, apply filter mask, and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8905" y="1234983"/>
            <a:ext cx="619420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83515" y="1242965"/>
            <a:ext cx="2378354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Canny_edge_detection(frame, ksize)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8905" y="1411719"/>
            <a:ext cx="5556247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Description: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Multi-stage edge detection using Gaussian blur, gradients, non-maximum suppression,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1600" y="1583169"/>
            <a:ext cx="1382592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and double thresholding.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98905" y="1754619"/>
            <a:ext cx="3092901" cy="341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8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Input: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Color frame, kernel size. •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Output: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Binary edge map with strong and weak edges.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037618" y="2981611"/>
            <a:ext cx="979322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ILPF(frame, r)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307147" y="3158347"/>
            <a:ext cx="979322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GLPF(frame, r)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497466" y="3335074"/>
            <a:ext cx="1189177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BLPF(frame, r, n)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099330" y="3979869"/>
            <a:ext cx="979322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IHPF(frame, r)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368859" y="4156605"/>
            <a:ext cx="979322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GHPF(frame, r)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559169" y="4333332"/>
            <a:ext cx="1189177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BHPF(frame, r, n)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287981" y="4538643"/>
            <a:ext cx="1468984" cy="25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900" i="true" spc="59">
                <a:solidFill>
                  <a:srgbClr val="050505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DFT_and_reconstruct()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273398" y="7071855"/>
            <a:ext cx="1468984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median_filter(img, k)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064458" y="7248582"/>
            <a:ext cx="1259129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min_filter(img, k)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089604" y="7425319"/>
            <a:ext cx="1259129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max_filter(img, k)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364381" y="7602055"/>
            <a:ext cx="1608887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midpoint_filter(img, k)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069965" y="7778782"/>
            <a:ext cx="2518258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alpha_trimmed_mean_filter(img, k, d)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09246" y="5896861"/>
            <a:ext cx="2518258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arithmetic_mean_filter(frame, ksize)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791863" y="6073588"/>
            <a:ext cx="2448306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geometric_mean_filter(frame, ksize)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755973" y="6250324"/>
            <a:ext cx="2378354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harmonic_mean_filter(frame, ksize)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3130525" y="6427060"/>
            <a:ext cx="3007928" cy="16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59">
                <a:solidFill>
                  <a:srgbClr val="050505"/>
                </a:solidFill>
                <a:latin typeface="Montserrat"/>
                <a:ea typeface="Montserrat"/>
                <a:cs typeface="Montserrat"/>
                <a:sym typeface="Montserrat"/>
              </a:rPr>
              <a:t>contraharmonic_mean_filter(frame, ksize, Q)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90600" y="8097250"/>
            <a:ext cx="1766278" cy="24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6. Illustrative Image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90600" y="2247233"/>
            <a:ext cx="2386608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 Frequency Domain Filters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47802" y="1236612"/>
            <a:ext cx="1525486" cy="518484"/>
          </a:xfrm>
          <a:custGeom>
            <a:avLst/>
            <a:gdLst/>
            <a:ahLst/>
            <a:cxnLst/>
            <a:rect r="r" b="b" t="t" l="l"/>
            <a:pathLst>
              <a:path h="518484" w="1525486">
                <a:moveTo>
                  <a:pt x="0" y="0"/>
                </a:moveTo>
                <a:lnTo>
                  <a:pt x="1525486" y="0"/>
                </a:lnTo>
                <a:lnTo>
                  <a:pt x="1525486" y="518484"/>
                </a:lnTo>
                <a:lnTo>
                  <a:pt x="0" y="518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90600" y="2409168"/>
            <a:ext cx="1151401" cy="31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b="true" sz="1350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8. 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70253" y="2791711"/>
            <a:ext cx="30309" cy="256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99209" y="3134611"/>
            <a:ext cx="30309" cy="256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3408150"/>
            <a:ext cx="1159450" cy="374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b="true" sz="1350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9. References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89608" y="3857368"/>
            <a:ext cx="30309" cy="24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0600" y="831866"/>
            <a:ext cx="2509161" cy="317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b="true" sz="1350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7. Real-Time Processing Loop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58454" y="1214409"/>
            <a:ext cx="30309" cy="256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53510" y="9511255"/>
            <a:ext cx="66685" cy="160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900" spc="0">
                <a:solidFill>
                  <a:srgbClr val="6E6E6E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5870" y="3933568"/>
            <a:ext cx="4533214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1. Gonzalez,R.C., Woods, R.E., Digital Image Processing, 4th Edition, Pearson, 2018.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5870" y="4105018"/>
            <a:ext cx="5101333" cy="341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2. OpenCV Documentation: https://opencv.org 3. Tutorialspoint, Image Processing Basics: https://www.tutorialspoint.com/image_processing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8905" y="2877436"/>
            <a:ext cx="3728656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• Thesystemdemonstrates comprehensive image processing filters.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8905" y="3048886"/>
            <a:ext cx="4996986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• Offers interactive real-time experience for learning spatial and frequency domain filtering.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8905" y="3220336"/>
            <a:ext cx="5023456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• Useful foranalyzing edge detection, noise reduction, and image enhancement techniques.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98905" y="1300134"/>
            <a:ext cx="4055316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• Captures framescontinuouslyfrom webcam (cv2.VideoCapture(0)).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8905" y="1471670"/>
            <a:ext cx="4426744" cy="52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• Reads key presses to set processing mode (e.g., 'x' → Sobel X, '1' → ILPF). • Dynamically adjusts parameters: kernel size, cutoff radius, contraharmonic Q. • Applies the selected filter and overlays text describing the mode.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90600" y="2030282"/>
            <a:ext cx="5659307" cy="256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Advantages: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Real-time visualization - Easy comparison of different filters - Dynamic parameter control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5382" y="2503034"/>
            <a:ext cx="3357775" cy="1889360"/>
          </a:xfrm>
          <a:custGeom>
            <a:avLst/>
            <a:gdLst/>
            <a:ahLst/>
            <a:cxnLst/>
            <a:rect r="r" b="b" t="t" l="l"/>
            <a:pathLst>
              <a:path h="1889360" w="3357775">
                <a:moveTo>
                  <a:pt x="0" y="0"/>
                </a:moveTo>
                <a:lnTo>
                  <a:pt x="3357775" y="0"/>
                </a:lnTo>
                <a:lnTo>
                  <a:pt x="3357775" y="1889360"/>
                </a:lnTo>
                <a:lnTo>
                  <a:pt x="0" y="18893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10005" y="2678565"/>
            <a:ext cx="3358990" cy="1538298"/>
          </a:xfrm>
          <a:custGeom>
            <a:avLst/>
            <a:gdLst/>
            <a:ahLst/>
            <a:cxnLst/>
            <a:rect r="r" b="b" t="t" l="l"/>
            <a:pathLst>
              <a:path h="1538298" w="3358990">
                <a:moveTo>
                  <a:pt x="0" y="0"/>
                </a:moveTo>
                <a:lnTo>
                  <a:pt x="3358989" y="0"/>
                </a:lnTo>
                <a:lnTo>
                  <a:pt x="3358989" y="1538298"/>
                </a:lnTo>
                <a:lnTo>
                  <a:pt x="0" y="1538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17748" y="6155005"/>
            <a:ext cx="4485550" cy="1950907"/>
          </a:xfrm>
          <a:custGeom>
            <a:avLst/>
            <a:gdLst/>
            <a:ahLst/>
            <a:cxnLst/>
            <a:rect r="r" b="b" t="t" l="l"/>
            <a:pathLst>
              <a:path h="1950907" w="4485550">
                <a:moveTo>
                  <a:pt x="0" y="0"/>
                </a:moveTo>
                <a:lnTo>
                  <a:pt x="4485551" y="0"/>
                </a:lnTo>
                <a:lnTo>
                  <a:pt x="4485551" y="1950908"/>
                </a:lnTo>
                <a:lnTo>
                  <a:pt x="0" y="1950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7240" y="8463100"/>
            <a:ext cx="4423301" cy="1232622"/>
          </a:xfrm>
          <a:custGeom>
            <a:avLst/>
            <a:gdLst/>
            <a:ahLst/>
            <a:cxnLst/>
            <a:rect r="r" b="b" t="t" l="l"/>
            <a:pathLst>
              <a:path h="1232622" w="4423301">
                <a:moveTo>
                  <a:pt x="0" y="0"/>
                </a:moveTo>
                <a:lnTo>
                  <a:pt x="4423301" y="0"/>
                </a:lnTo>
                <a:lnTo>
                  <a:pt x="4423301" y="1232622"/>
                </a:lnTo>
                <a:lnTo>
                  <a:pt x="0" y="1232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138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85233" y="424815"/>
            <a:ext cx="3636913" cy="382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9"/>
              </a:lnSpc>
              <a:spcBef>
                <a:spcPct val="0"/>
              </a:spcBef>
            </a:pPr>
            <a:r>
              <a:rPr lang="en-US" sz="2199" spc="2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4. Frequency Domain Filters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7240" y="1291072"/>
            <a:ext cx="1983284" cy="340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b="true" sz="1952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Low-Pass Filters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45870" y="2973629"/>
            <a:ext cx="1779003" cy="17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1"/>
              </a:lnSpc>
            </a:pP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1. </a:t>
            </a:r>
            <a:r>
              <a:rPr lang="en-US" b="true" sz="900" spc="0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ILPF (Ideal Low-Pass Filter)</a:t>
            </a:r>
            <a:r>
              <a:rPr lang="en-US" sz="900" spc="0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4715" y="4849311"/>
            <a:ext cx="2314277" cy="21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199" spc="1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1. </a:t>
            </a:r>
            <a:r>
              <a:rPr lang="en-US" b="true" sz="1199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ILPF (Ideal Low-Pass Filter)</a:t>
            </a:r>
            <a:r>
              <a:rPr lang="en-US" sz="1199" spc="1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34715" y="5204472"/>
            <a:ext cx="5303168" cy="593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7"/>
              </a:lnSpc>
              <a:spcBef>
                <a:spcPct val="0"/>
              </a:spcBef>
            </a:pPr>
            <a:r>
              <a:rPr lang="en-US" sz="1020" spc="1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keeps low-frequency components of the image (smooth areas) while completely blocking high-frequency components (edges and fine details), producing a blurred/smoothened image.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4955" y="1998186"/>
            <a:ext cx="4472603" cy="1653931"/>
          </a:xfrm>
          <a:custGeom>
            <a:avLst/>
            <a:gdLst/>
            <a:ahLst/>
            <a:cxnLst/>
            <a:rect r="r" b="b" t="t" l="l"/>
            <a:pathLst>
              <a:path h="1653931" w="4472603">
                <a:moveTo>
                  <a:pt x="0" y="0"/>
                </a:moveTo>
                <a:lnTo>
                  <a:pt x="4472603" y="0"/>
                </a:lnTo>
                <a:lnTo>
                  <a:pt x="4472603" y="1653931"/>
                </a:lnTo>
                <a:lnTo>
                  <a:pt x="0" y="1653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94955" y="4061692"/>
            <a:ext cx="6043481" cy="1927850"/>
          </a:xfrm>
          <a:custGeom>
            <a:avLst/>
            <a:gdLst/>
            <a:ahLst/>
            <a:cxnLst/>
            <a:rect r="r" b="b" t="t" l="l"/>
            <a:pathLst>
              <a:path h="1927850" w="6043481">
                <a:moveTo>
                  <a:pt x="0" y="0"/>
                </a:moveTo>
                <a:lnTo>
                  <a:pt x="6043481" y="0"/>
                </a:lnTo>
                <a:lnTo>
                  <a:pt x="6043481" y="1927850"/>
                </a:lnTo>
                <a:lnTo>
                  <a:pt x="0" y="1927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1526" r="0" b="-1152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4955" y="7682594"/>
            <a:ext cx="5615210" cy="2243169"/>
          </a:xfrm>
          <a:custGeom>
            <a:avLst/>
            <a:gdLst/>
            <a:ahLst/>
            <a:cxnLst/>
            <a:rect r="r" b="b" t="t" l="l"/>
            <a:pathLst>
              <a:path h="2243169" w="5615210">
                <a:moveTo>
                  <a:pt x="0" y="0"/>
                </a:moveTo>
                <a:lnTo>
                  <a:pt x="5615210" y="0"/>
                </a:lnTo>
                <a:lnTo>
                  <a:pt x="5615210" y="2243169"/>
                </a:lnTo>
                <a:lnTo>
                  <a:pt x="0" y="22431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4880" r="0" b="-2167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7240" y="826097"/>
            <a:ext cx="2691705" cy="21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199" spc="1">
                <a:solidFill>
                  <a:srgbClr val="0A0783"/>
                </a:solidFill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lang="en-US" b="true" sz="1199" spc="1">
                <a:solidFill>
                  <a:srgbClr val="0A07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GLPF (Gaussian Low-Pass Filter)</a:t>
            </a:r>
            <a:r>
              <a:rPr lang="en-US" sz="1199" spc="1">
                <a:solidFill>
                  <a:srgbClr val="0A0783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142459"/>
            <a:ext cx="7772400" cy="4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5"/>
              </a:lnSpc>
              <a:spcBef>
                <a:spcPct val="0"/>
              </a:spcBef>
            </a:pPr>
            <a:r>
              <a:rPr lang="en-US" sz="1200" spc="1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smooths the image by attenuating high frequencies gradually with a Gaussian curve, reducing noise while minimizing ringing artifacts compared to the ideal low-pass filter.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63150" y="6361017"/>
            <a:ext cx="2945606" cy="21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199" spc="1">
                <a:solidFill>
                  <a:srgbClr val="0A0783"/>
                </a:solidFill>
                <a:latin typeface="Open Sans"/>
                <a:ea typeface="Open Sans"/>
                <a:cs typeface="Open Sans"/>
                <a:sym typeface="Open Sans"/>
              </a:rPr>
              <a:t>3. </a:t>
            </a:r>
            <a:r>
              <a:rPr lang="en-US" b="true" sz="1199" spc="1">
                <a:solidFill>
                  <a:srgbClr val="0A07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BLPF (Butterworth Low-Pass Filter)</a:t>
            </a:r>
            <a:r>
              <a:rPr lang="en-US" sz="1199" spc="1">
                <a:solidFill>
                  <a:srgbClr val="0A0783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6722450"/>
            <a:ext cx="7772400" cy="838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9"/>
              </a:lnSpc>
              <a:spcBef>
                <a:spcPct val="0"/>
              </a:spcBef>
            </a:pPr>
            <a:r>
              <a:rPr lang="en-US" sz="1500" spc="1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allows low frequencies to pass while attenuating high frequencies with a smooth, adjustable transition controlled by the filter order, balancing sharpness and smoothness.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5221" y="2686631"/>
            <a:ext cx="4247816" cy="1771148"/>
          </a:xfrm>
          <a:custGeom>
            <a:avLst/>
            <a:gdLst/>
            <a:ahLst/>
            <a:cxnLst/>
            <a:rect r="r" b="b" t="t" l="l"/>
            <a:pathLst>
              <a:path h="1771148" w="4247816">
                <a:moveTo>
                  <a:pt x="0" y="0"/>
                </a:moveTo>
                <a:lnTo>
                  <a:pt x="4247816" y="0"/>
                </a:lnTo>
                <a:lnTo>
                  <a:pt x="4247816" y="1771149"/>
                </a:lnTo>
                <a:lnTo>
                  <a:pt x="0" y="1771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89046" y="6599193"/>
            <a:ext cx="3434966" cy="2595410"/>
          </a:xfrm>
          <a:custGeom>
            <a:avLst/>
            <a:gdLst/>
            <a:ahLst/>
            <a:cxnLst/>
            <a:rect r="r" b="b" t="t" l="l"/>
            <a:pathLst>
              <a:path h="2595410" w="3434966">
                <a:moveTo>
                  <a:pt x="0" y="0"/>
                </a:moveTo>
                <a:lnTo>
                  <a:pt x="3434966" y="0"/>
                </a:lnTo>
                <a:lnTo>
                  <a:pt x="3434966" y="2595411"/>
                </a:lnTo>
                <a:lnTo>
                  <a:pt x="0" y="25954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39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838" y="6599193"/>
            <a:ext cx="3537626" cy="2681967"/>
          </a:xfrm>
          <a:custGeom>
            <a:avLst/>
            <a:gdLst/>
            <a:ahLst/>
            <a:cxnLst/>
            <a:rect r="r" b="b" t="t" l="l"/>
            <a:pathLst>
              <a:path h="2681967" w="3537626">
                <a:moveTo>
                  <a:pt x="0" y="0"/>
                </a:moveTo>
                <a:lnTo>
                  <a:pt x="3537626" y="0"/>
                </a:lnTo>
                <a:lnTo>
                  <a:pt x="3537626" y="2681967"/>
                </a:lnTo>
                <a:lnTo>
                  <a:pt x="0" y="26819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3190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7240" y="563737"/>
            <a:ext cx="2046089" cy="340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4"/>
              </a:lnSpc>
            </a:pPr>
            <a:r>
              <a:rPr lang="en-US" b="true" sz="1952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High-Pass Filters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9312" y="1455381"/>
            <a:ext cx="2383334" cy="21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199" spc="1">
                <a:solidFill>
                  <a:srgbClr val="0A0783"/>
                </a:solidFill>
                <a:latin typeface="Open Sans"/>
                <a:ea typeface="Open Sans"/>
                <a:cs typeface="Open Sans"/>
                <a:sym typeface="Open Sans"/>
              </a:rPr>
              <a:t>1. </a:t>
            </a:r>
            <a:r>
              <a:rPr lang="en-US" b="true" sz="1199" spc="1">
                <a:solidFill>
                  <a:srgbClr val="0A07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IHPF (Ideal High-Pass Filter)</a:t>
            </a:r>
            <a:r>
              <a:rPr lang="en-US" sz="1199" spc="1">
                <a:solidFill>
                  <a:srgbClr val="0A0783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5034" y="1872368"/>
            <a:ext cx="7275625" cy="442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5"/>
              </a:lnSpc>
              <a:spcBef>
                <a:spcPct val="0"/>
              </a:spcBef>
            </a:pPr>
            <a:r>
              <a:rPr lang="en-US" sz="1200" spc="1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 blocks low-frequency components (smooth areas) and allows high frequencies (edges and fine details) to pass, enhancing image details and edges sharply.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5221" y="4991100"/>
            <a:ext cx="2760762" cy="21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5"/>
              </a:lnSpc>
            </a:pPr>
            <a:r>
              <a:rPr lang="en-US" sz="1199" spc="1">
                <a:solidFill>
                  <a:srgbClr val="0A0783"/>
                </a:solidFill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lang="en-US" b="true" sz="1199" spc="1">
                <a:solidFill>
                  <a:srgbClr val="0A07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GHPF (Gaussian High-Pass Filter)</a:t>
            </a:r>
            <a:r>
              <a:rPr lang="en-US" sz="1199" spc="1">
                <a:solidFill>
                  <a:srgbClr val="0A0783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10460" y="5414700"/>
            <a:ext cx="6660126" cy="786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4"/>
              </a:lnSpc>
              <a:spcBef>
                <a:spcPct val="0"/>
              </a:spcBef>
            </a:pPr>
            <a:r>
              <a:rPr lang="en-US" sz="1400" spc="1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emphasizes edges and fine details by attenuating low frequencies gradually using a Gaussian function, producing smoother high-pass enhancement with minimal ringing artifacts.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1096" y="2375372"/>
            <a:ext cx="4189049" cy="2729687"/>
          </a:xfrm>
          <a:custGeom>
            <a:avLst/>
            <a:gdLst/>
            <a:ahLst/>
            <a:cxnLst/>
            <a:rect r="r" b="b" t="t" l="l"/>
            <a:pathLst>
              <a:path h="2729687" w="4189049">
                <a:moveTo>
                  <a:pt x="0" y="0"/>
                </a:moveTo>
                <a:lnTo>
                  <a:pt x="4189049" y="0"/>
                </a:lnTo>
                <a:lnTo>
                  <a:pt x="4189049" y="2729687"/>
                </a:lnTo>
                <a:lnTo>
                  <a:pt x="0" y="27296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1096" y="524433"/>
            <a:ext cx="3517999" cy="25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4"/>
              </a:lnSpc>
            </a:pPr>
            <a:r>
              <a:rPr lang="en-US" sz="1399" spc="1">
                <a:solidFill>
                  <a:srgbClr val="0A0783"/>
                </a:solidFill>
                <a:latin typeface="Open Sans"/>
                <a:ea typeface="Open Sans"/>
                <a:cs typeface="Open Sans"/>
                <a:sym typeface="Open Sans"/>
              </a:rPr>
              <a:t>3. </a:t>
            </a:r>
            <a:r>
              <a:rPr lang="en-US" b="true" sz="1399" spc="1">
                <a:solidFill>
                  <a:srgbClr val="0A07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BHPF (Butterworth High-Pass Filter)</a:t>
            </a:r>
            <a:r>
              <a:rPr lang="en-US" sz="1399" spc="1">
                <a:solidFill>
                  <a:srgbClr val="0A0783"/>
                </a:solidFill>
                <a:latin typeface="Open Sans"/>
                <a:ea typeface="Open Sans"/>
                <a:cs typeface="Open Sans"/>
                <a:sym typeface="Open Sans"/>
              </a:rPr>
              <a:t> -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0135" y="1012440"/>
            <a:ext cx="6217920" cy="757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  <a:spcBef>
                <a:spcPct val="0"/>
              </a:spcBef>
            </a:pPr>
            <a:r>
              <a:rPr lang="en-US" sz="1380" spc="1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enhances edges by reducing low frequencies with a smooth transition controlled by the filter order, providing adjustable sharpness while avoiding abrupt artifacts.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00435" y="3017494"/>
            <a:ext cx="3608295" cy="2246263"/>
          </a:xfrm>
          <a:custGeom>
            <a:avLst/>
            <a:gdLst/>
            <a:ahLst/>
            <a:cxnLst/>
            <a:rect r="r" b="b" t="t" l="l"/>
            <a:pathLst>
              <a:path h="2246263" w="3608295">
                <a:moveTo>
                  <a:pt x="0" y="0"/>
                </a:moveTo>
                <a:lnTo>
                  <a:pt x="3608295" y="0"/>
                </a:lnTo>
                <a:lnTo>
                  <a:pt x="3608295" y="2246264"/>
                </a:lnTo>
                <a:lnTo>
                  <a:pt x="0" y="2246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854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7512" y="3242796"/>
            <a:ext cx="2978850" cy="1696907"/>
          </a:xfrm>
          <a:custGeom>
            <a:avLst/>
            <a:gdLst/>
            <a:ahLst/>
            <a:cxnLst/>
            <a:rect r="r" b="b" t="t" l="l"/>
            <a:pathLst>
              <a:path h="1696907" w="2978850">
                <a:moveTo>
                  <a:pt x="0" y="0"/>
                </a:moveTo>
                <a:lnTo>
                  <a:pt x="2978850" y="0"/>
                </a:lnTo>
                <a:lnTo>
                  <a:pt x="2978850" y="1696907"/>
                </a:lnTo>
                <a:lnTo>
                  <a:pt x="0" y="1696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198" y="7251276"/>
            <a:ext cx="3685477" cy="2059260"/>
          </a:xfrm>
          <a:custGeom>
            <a:avLst/>
            <a:gdLst/>
            <a:ahLst/>
            <a:cxnLst/>
            <a:rect r="r" b="b" t="t" l="l"/>
            <a:pathLst>
              <a:path h="2059260" w="3685477">
                <a:moveTo>
                  <a:pt x="0" y="0"/>
                </a:moveTo>
                <a:lnTo>
                  <a:pt x="3685477" y="0"/>
                </a:lnTo>
                <a:lnTo>
                  <a:pt x="3685477" y="2059260"/>
                </a:lnTo>
                <a:lnTo>
                  <a:pt x="0" y="2059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24895" y="7165551"/>
            <a:ext cx="3373330" cy="2529997"/>
          </a:xfrm>
          <a:custGeom>
            <a:avLst/>
            <a:gdLst/>
            <a:ahLst/>
            <a:cxnLst/>
            <a:rect r="r" b="b" t="t" l="l"/>
            <a:pathLst>
              <a:path h="2529997" w="3373330">
                <a:moveTo>
                  <a:pt x="0" y="0"/>
                </a:moveTo>
                <a:lnTo>
                  <a:pt x="3373330" y="0"/>
                </a:lnTo>
                <a:lnTo>
                  <a:pt x="3373330" y="2529997"/>
                </a:lnTo>
                <a:lnTo>
                  <a:pt x="0" y="25299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81592" y="1051452"/>
            <a:ext cx="1380679" cy="28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b="true" sz="1752" spc="1">
                <a:solidFill>
                  <a:srgbClr val="0A078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Mean Filters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7537" y="-148021"/>
            <a:ext cx="2498825" cy="85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</a:p>
          <a:p>
            <a:pPr algn="l">
              <a:lnSpc>
                <a:spcPts val="2229"/>
              </a:lnSpc>
            </a:pPr>
            <a:r>
              <a:rPr lang="en-US" b="true" sz="1592" spc="1">
                <a:solidFill>
                  <a:srgbClr val="05050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 Spatial Domain Filters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1285" y="1670080"/>
            <a:ext cx="2380208" cy="282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1599" spc="1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1. Arithmetic Mean Filter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1859" y="2207844"/>
            <a:ext cx="5438712" cy="4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9"/>
              </a:lnSpc>
              <a:spcBef>
                <a:spcPct val="0"/>
              </a:spcBef>
            </a:pPr>
            <a:r>
              <a:rPr lang="en-US" sz="1300" spc="1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smooths an image by replacing each pixel with the average of its neighborhood, reducing random noise but also slightly blurring edges.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1454" y="5602239"/>
            <a:ext cx="2392561" cy="31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8"/>
              </a:lnSpc>
              <a:spcBef>
                <a:spcPct val="0"/>
              </a:spcBef>
            </a:pPr>
            <a:r>
              <a:rPr lang="en-US" sz="1699" spc="1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2. Geometric Mean Filte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1592" y="6003787"/>
            <a:ext cx="6143135" cy="84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5"/>
              </a:lnSpc>
              <a:spcBef>
                <a:spcPct val="0"/>
              </a:spcBef>
            </a:pPr>
            <a:r>
              <a:rPr lang="en-US" sz="1498" spc="1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smooths an image by replacing each pixel with the geometric mean of its neighborhood, reducing noise while better preserving edges compared to the arithmetic mean filter.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6793" y="1644364"/>
            <a:ext cx="5343587" cy="2551597"/>
          </a:xfrm>
          <a:custGeom>
            <a:avLst/>
            <a:gdLst/>
            <a:ahLst/>
            <a:cxnLst/>
            <a:rect r="r" b="b" t="t" l="l"/>
            <a:pathLst>
              <a:path h="2551597" w="5343587">
                <a:moveTo>
                  <a:pt x="0" y="0"/>
                </a:moveTo>
                <a:lnTo>
                  <a:pt x="5343586" y="0"/>
                </a:lnTo>
                <a:lnTo>
                  <a:pt x="5343586" y="2551597"/>
                </a:lnTo>
                <a:lnTo>
                  <a:pt x="0" y="25515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899" r="0" b="-889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6370" y="6885349"/>
            <a:ext cx="5325512" cy="2225898"/>
          </a:xfrm>
          <a:custGeom>
            <a:avLst/>
            <a:gdLst/>
            <a:ahLst/>
            <a:cxnLst/>
            <a:rect r="r" b="b" t="t" l="l"/>
            <a:pathLst>
              <a:path h="2225898" w="5325512">
                <a:moveTo>
                  <a:pt x="0" y="0"/>
                </a:moveTo>
                <a:lnTo>
                  <a:pt x="5325512" y="0"/>
                </a:lnTo>
                <a:lnTo>
                  <a:pt x="5325512" y="2225897"/>
                </a:lnTo>
                <a:lnTo>
                  <a:pt x="0" y="22258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6370" y="383170"/>
            <a:ext cx="2191941" cy="282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1599" spc="1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3. Harmonic Mean Filte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240" y="833549"/>
            <a:ext cx="6814003" cy="582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8"/>
              </a:lnSpc>
              <a:spcBef>
                <a:spcPct val="0"/>
              </a:spcBef>
            </a:pPr>
            <a:r>
              <a:rPr lang="en-US" sz="1557" spc="1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reduces the effect of bright noise (e.g., salt noise) by replacing each pixel with the harmonic mean of its neighborhood, preserving dark regions.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1598" y="4747082"/>
            <a:ext cx="3000226" cy="282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1599" spc="1">
                <a:solidFill>
                  <a:srgbClr val="FF3131"/>
                </a:solidFill>
                <a:latin typeface="Open Sans"/>
                <a:ea typeface="Open Sans"/>
                <a:cs typeface="Open Sans"/>
                <a:sym typeface="Open Sans"/>
              </a:rPr>
              <a:t>4. Contraharmonic Mean Filter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3459" y="5204927"/>
            <a:ext cx="6545481" cy="1196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3"/>
              </a:lnSpc>
              <a:spcBef>
                <a:spcPct val="0"/>
              </a:spcBef>
            </a:pPr>
            <a:r>
              <a:rPr lang="en-US" sz="1599" spc="1">
                <a:solidFill>
                  <a:srgbClr val="050505"/>
                </a:solidFill>
                <a:latin typeface="Open Sans"/>
                <a:ea typeface="Open Sans"/>
                <a:cs typeface="Open Sans"/>
                <a:sym typeface="Open Sans"/>
              </a:rPr>
              <a:t>reduces salt-and-pepper noise by replacing each pixel with a contraharmonic mean of its neighborhood; the parameter Q controls whether it removes salt noise (Q &gt; 0) or pepper noise (Q &lt; 0).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0502" y="4899629"/>
            <a:ext cx="7031397" cy="4684668"/>
          </a:xfrm>
          <a:custGeom>
            <a:avLst/>
            <a:gdLst/>
            <a:ahLst/>
            <a:cxnLst/>
            <a:rect r="r" b="b" t="t" l="l"/>
            <a:pathLst>
              <a:path h="4684668" w="7031397">
                <a:moveTo>
                  <a:pt x="0" y="0"/>
                </a:moveTo>
                <a:lnTo>
                  <a:pt x="7031396" y="0"/>
                </a:lnTo>
                <a:lnTo>
                  <a:pt x="7031396" y="4684668"/>
                </a:lnTo>
                <a:lnTo>
                  <a:pt x="0" y="4684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308" y="51905"/>
            <a:ext cx="7433783" cy="4286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  <a:spcBef>
                <a:spcPct val="0"/>
              </a:spcBef>
            </a:pPr>
            <a:r>
              <a:rPr lang="en-US" sz="1692" spc="1">
                <a:solidFill>
                  <a:srgbClr val="C8290C"/>
                </a:solidFill>
                <a:latin typeface="Open Sans"/>
                <a:ea typeface="Open Sans"/>
                <a:cs typeface="Open Sans"/>
                <a:sym typeface="Open Sans"/>
              </a:rPr>
              <a:t>Order-Statistic Filters    </a:t>
            </a:r>
            <a:r>
              <a:rPr lang="en-US" sz="1692" spc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– operate based on the sorted values of a pixel’s neighborhood rather than arithmetic calculations.</a:t>
            </a:r>
          </a:p>
          <a:p>
            <a:pPr algn="ctr">
              <a:lnSpc>
                <a:spcPts val="2456"/>
              </a:lnSpc>
              <a:spcBef>
                <a:spcPct val="0"/>
              </a:spcBef>
            </a:pPr>
            <a:r>
              <a:rPr lang="en-US" sz="1589" spc="1">
                <a:solidFill>
                  <a:srgbClr val="C8290C"/>
                </a:solidFill>
                <a:latin typeface="Open Sans"/>
                <a:ea typeface="Open Sans"/>
                <a:cs typeface="Open Sans"/>
                <a:sym typeface="Open Sans"/>
              </a:rPr>
              <a:t>Median Filter</a:t>
            </a:r>
            <a:r>
              <a:rPr lang="en-US" sz="1589" spc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– replaces each pixel with the median value of its neighborhood;            for removing impulse (salt-and-pepper) noise while preserving edges</a:t>
            </a:r>
          </a:p>
          <a:p>
            <a:pPr algn="ctr">
              <a:lnSpc>
                <a:spcPts val="2456"/>
              </a:lnSpc>
              <a:spcBef>
                <a:spcPct val="0"/>
              </a:spcBef>
            </a:pPr>
            <a:r>
              <a:rPr lang="en-US" sz="1589" spc="1">
                <a:solidFill>
                  <a:srgbClr val="C8290C"/>
                </a:solidFill>
                <a:latin typeface="Open Sans"/>
                <a:ea typeface="Open Sans"/>
                <a:cs typeface="Open Sans"/>
                <a:sym typeface="Open Sans"/>
              </a:rPr>
              <a:t>Min Filter </a:t>
            </a:r>
            <a:r>
              <a:rPr lang="en-US" sz="1589" spc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replaces each pixel with the minimum value in its neighborhood; removes bright noise and performs morphological erosion.</a:t>
            </a:r>
          </a:p>
          <a:p>
            <a:pPr algn="ctr">
              <a:lnSpc>
                <a:spcPts val="2456"/>
              </a:lnSpc>
              <a:spcBef>
                <a:spcPct val="0"/>
              </a:spcBef>
            </a:pPr>
            <a:r>
              <a:rPr lang="en-US" sz="1589" spc="1">
                <a:solidFill>
                  <a:srgbClr val="C8290C"/>
                </a:solidFill>
                <a:latin typeface="Open Sans"/>
                <a:ea typeface="Open Sans"/>
                <a:cs typeface="Open Sans"/>
                <a:sym typeface="Open Sans"/>
              </a:rPr>
              <a:t>Max Filter </a:t>
            </a:r>
            <a:r>
              <a:rPr lang="en-US" sz="1589" spc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– replaces each pixel with the maximum value in its neighborhood; removes dark noise and performs morphological dilation.  </a:t>
            </a:r>
          </a:p>
          <a:p>
            <a:pPr algn="ctr">
              <a:lnSpc>
                <a:spcPts val="2456"/>
              </a:lnSpc>
              <a:spcBef>
                <a:spcPct val="0"/>
              </a:spcBef>
            </a:pPr>
            <a:r>
              <a:rPr lang="en-US" sz="1589" spc="1">
                <a:solidFill>
                  <a:srgbClr val="C8290C"/>
                </a:solidFill>
                <a:latin typeface="Open Sans"/>
                <a:ea typeface="Open Sans"/>
                <a:cs typeface="Open Sans"/>
                <a:sym typeface="Open Sans"/>
              </a:rPr>
              <a:t>Midpoint Filter    </a:t>
            </a:r>
            <a:r>
              <a:rPr lang="en-US" sz="1589" spc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– replaces each pixel with the average of the minimum and </a:t>
            </a:r>
          </a:p>
          <a:p>
            <a:pPr algn="ctr">
              <a:lnSpc>
                <a:spcPts val="2456"/>
              </a:lnSpc>
              <a:spcBef>
                <a:spcPct val="0"/>
              </a:spcBef>
            </a:pPr>
            <a:r>
              <a:rPr lang="en-US" sz="1589" spc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values in its neighborhood; balances noise reduction and edge preservation.</a:t>
            </a:r>
          </a:p>
          <a:p>
            <a:pPr algn="ctr">
              <a:lnSpc>
                <a:spcPts val="2456"/>
              </a:lnSpc>
              <a:spcBef>
                <a:spcPct val="0"/>
              </a:spcBef>
            </a:pPr>
            <a:r>
              <a:rPr lang="en-US" sz="1589" spc="1">
                <a:solidFill>
                  <a:srgbClr val="C8290C"/>
                </a:solidFill>
                <a:latin typeface="Open Sans"/>
                <a:ea typeface="Open Sans"/>
                <a:cs typeface="Open Sans"/>
                <a:sym typeface="Open Sans"/>
              </a:rPr>
              <a:t>Alpha-Trimmed Mean Filter</a:t>
            </a:r>
            <a:r>
              <a:rPr lang="en-US" sz="1589" spc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– removes a specified number of the lowest and       highest pixel values in the neighborhood, then averages the remaining values; effective for mixed noise reduction while preserving details.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48944" y="179970"/>
            <a:ext cx="4903159" cy="1194539"/>
            <a:chOff x="0" y="0"/>
            <a:chExt cx="12510958" cy="3048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10958" cy="2946400"/>
            </a:xfrm>
            <a:custGeom>
              <a:avLst/>
              <a:gdLst/>
              <a:ahLst/>
              <a:cxnLst/>
              <a:rect r="r" b="b" t="t" l="l"/>
              <a:pathLst>
                <a:path h="2946400" w="12510958">
                  <a:moveTo>
                    <a:pt x="0" y="0"/>
                  </a:moveTo>
                  <a:lnTo>
                    <a:pt x="12510958" y="0"/>
                  </a:lnTo>
                  <a:lnTo>
                    <a:pt x="12510958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10958" cy="3048000"/>
            </a:xfrm>
            <a:custGeom>
              <a:avLst/>
              <a:gdLst/>
              <a:ahLst/>
              <a:cxnLst/>
              <a:rect r="r" b="b" t="t" l="l"/>
              <a:pathLst>
                <a:path h="3048000" w="12510958">
                  <a:moveTo>
                    <a:pt x="0" y="2946400"/>
                  </a:moveTo>
                  <a:lnTo>
                    <a:pt x="12510958" y="2946400"/>
                  </a:lnTo>
                  <a:lnTo>
                    <a:pt x="12383958" y="3048000"/>
                  </a:lnTo>
                  <a:cubicBezTo>
                    <a:pt x="12383958" y="3048000"/>
                    <a:pt x="11393358" y="2971800"/>
                    <a:pt x="11291758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12510958" y="0"/>
                  </a:lnTo>
                  <a:lnTo>
                    <a:pt x="12510958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12498258" y="2933700"/>
                  </a:lnTo>
                  <a:lnTo>
                    <a:pt x="12498258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0"/>
              <a:ext cx="12510958" cy="2584450"/>
            </a:xfrm>
            <a:prstGeom prst="rect">
              <a:avLst/>
            </a:prstGeom>
          </p:spPr>
          <p:txBody>
            <a:bodyPr anchor="t" rtlCol="false" tIns="140534" lIns="140534" bIns="140534" rIns="140534"/>
            <a:lstStyle/>
            <a:p>
              <a:pPr algn="l">
                <a:lnSpc>
                  <a:spcPts val="4216"/>
                </a:lnSpc>
              </a:pPr>
              <a:r>
                <a:rPr lang="en-US" sz="3011">
                  <a:solidFill>
                    <a:srgbClr val="050505"/>
                  </a:solidFill>
                  <a:latin typeface="SK Quadratica"/>
                  <a:ea typeface="SK Quadratica"/>
                  <a:cs typeface="SK Quadratica"/>
                  <a:sym typeface="SK Quadratica"/>
                </a:rPr>
                <a:t>SOPEL X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48944" y="4422118"/>
            <a:ext cx="5231455" cy="1430640"/>
            <a:chOff x="0" y="0"/>
            <a:chExt cx="11145694" cy="304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45694" cy="2946400"/>
            </a:xfrm>
            <a:custGeom>
              <a:avLst/>
              <a:gdLst/>
              <a:ahLst/>
              <a:cxnLst/>
              <a:rect r="r" b="b" t="t" l="l"/>
              <a:pathLst>
                <a:path h="2946400" w="11145694">
                  <a:moveTo>
                    <a:pt x="0" y="0"/>
                  </a:moveTo>
                  <a:lnTo>
                    <a:pt x="11145694" y="0"/>
                  </a:lnTo>
                  <a:lnTo>
                    <a:pt x="11145694" y="2946400"/>
                  </a:lnTo>
                  <a:lnTo>
                    <a:pt x="0" y="2946400"/>
                  </a:ln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145694" cy="3048000"/>
            </a:xfrm>
            <a:custGeom>
              <a:avLst/>
              <a:gdLst/>
              <a:ahLst/>
              <a:cxnLst/>
              <a:rect r="r" b="b" t="t" l="l"/>
              <a:pathLst>
                <a:path h="3048000" w="11145694">
                  <a:moveTo>
                    <a:pt x="0" y="2946400"/>
                  </a:moveTo>
                  <a:lnTo>
                    <a:pt x="11145694" y="2946400"/>
                  </a:lnTo>
                  <a:lnTo>
                    <a:pt x="11018694" y="3048000"/>
                  </a:lnTo>
                  <a:cubicBezTo>
                    <a:pt x="11018694" y="3048000"/>
                    <a:pt x="10028094" y="2971800"/>
                    <a:pt x="9926494" y="2971800"/>
                  </a:cubicBezTo>
                  <a:lnTo>
                    <a:pt x="1219200" y="2971800"/>
                  </a:lnTo>
                  <a:cubicBezTo>
                    <a:pt x="1117600" y="2971800"/>
                    <a:pt x="127000" y="3048000"/>
                    <a:pt x="127000" y="3048000"/>
                  </a:cubicBezTo>
                  <a:lnTo>
                    <a:pt x="0" y="2946400"/>
                  </a:lnTo>
                  <a:lnTo>
                    <a:pt x="0" y="0"/>
                  </a:lnTo>
                  <a:lnTo>
                    <a:pt x="11145694" y="0"/>
                  </a:lnTo>
                  <a:lnTo>
                    <a:pt x="11145694" y="2946400"/>
                  </a:lnTo>
                  <a:lnTo>
                    <a:pt x="12700" y="2946400"/>
                  </a:lnTo>
                  <a:lnTo>
                    <a:pt x="12700" y="2933700"/>
                  </a:lnTo>
                  <a:lnTo>
                    <a:pt x="11132994" y="2933700"/>
                  </a:lnTo>
                  <a:lnTo>
                    <a:pt x="11132994" y="12700"/>
                  </a:lnTo>
                  <a:lnTo>
                    <a:pt x="12700" y="12700"/>
                  </a:lnTo>
                  <a:lnTo>
                    <a:pt x="12700" y="2946400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1145694" cy="2555875"/>
            </a:xfrm>
            <a:prstGeom prst="rect">
              <a:avLst/>
            </a:prstGeom>
          </p:spPr>
          <p:txBody>
            <a:bodyPr anchor="t" rtlCol="false" tIns="168311" lIns="168311" bIns="168311" rIns="168311"/>
            <a:lstStyle/>
            <a:p>
              <a:pPr algn="l">
                <a:lnSpc>
                  <a:spcPts val="2667"/>
                </a:lnSpc>
              </a:pPr>
              <a:r>
                <a:rPr lang="en-US" sz="1905">
                  <a:solidFill>
                    <a:srgbClr val="050505"/>
                  </a:solidFill>
                  <a:latin typeface="SK Quadratica"/>
                  <a:ea typeface="SK Quadratica"/>
                  <a:cs typeface="SK Quadratica"/>
                  <a:sym typeface="SK Quadratica"/>
                </a:rPr>
                <a:t>SOPEL Y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37767" y="1947445"/>
            <a:ext cx="3380868" cy="1901738"/>
          </a:xfrm>
          <a:custGeom>
            <a:avLst/>
            <a:gdLst/>
            <a:ahLst/>
            <a:cxnLst/>
            <a:rect r="r" b="b" t="t" l="l"/>
            <a:pathLst>
              <a:path h="1901738" w="3380868">
                <a:moveTo>
                  <a:pt x="0" y="0"/>
                </a:moveTo>
                <a:lnTo>
                  <a:pt x="3380869" y="0"/>
                </a:lnTo>
                <a:lnTo>
                  <a:pt x="3380869" y="1901738"/>
                </a:lnTo>
                <a:lnTo>
                  <a:pt x="0" y="1901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900501" y="1629158"/>
            <a:ext cx="3559796" cy="2002385"/>
          </a:xfrm>
          <a:custGeom>
            <a:avLst/>
            <a:gdLst/>
            <a:ahLst/>
            <a:cxnLst/>
            <a:rect r="r" b="b" t="t" l="l"/>
            <a:pathLst>
              <a:path h="2002385" w="3559796">
                <a:moveTo>
                  <a:pt x="0" y="0"/>
                </a:moveTo>
                <a:lnTo>
                  <a:pt x="3559796" y="0"/>
                </a:lnTo>
                <a:lnTo>
                  <a:pt x="3559796" y="2002385"/>
                </a:lnTo>
                <a:lnTo>
                  <a:pt x="0" y="20023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27454" y="6424258"/>
            <a:ext cx="3523281" cy="1981845"/>
          </a:xfrm>
          <a:custGeom>
            <a:avLst/>
            <a:gdLst/>
            <a:ahLst/>
            <a:cxnLst/>
            <a:rect r="r" b="b" t="t" l="l"/>
            <a:pathLst>
              <a:path h="1981845" w="3523281">
                <a:moveTo>
                  <a:pt x="0" y="0"/>
                </a:moveTo>
                <a:lnTo>
                  <a:pt x="3523280" y="0"/>
                </a:lnTo>
                <a:lnTo>
                  <a:pt x="3523280" y="1981845"/>
                </a:lnTo>
                <a:lnTo>
                  <a:pt x="0" y="19818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033789" y="6995334"/>
            <a:ext cx="3527365" cy="1984143"/>
          </a:xfrm>
          <a:custGeom>
            <a:avLst/>
            <a:gdLst/>
            <a:ahLst/>
            <a:cxnLst/>
            <a:rect r="r" b="b" t="t" l="l"/>
            <a:pathLst>
              <a:path h="1984143" w="3527365">
                <a:moveTo>
                  <a:pt x="0" y="0"/>
                </a:moveTo>
                <a:lnTo>
                  <a:pt x="3527365" y="0"/>
                </a:lnTo>
                <a:lnTo>
                  <a:pt x="3527365" y="1984142"/>
                </a:lnTo>
                <a:lnTo>
                  <a:pt x="0" y="198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5988" y="318780"/>
            <a:ext cx="5140352" cy="1424972"/>
            <a:chOff x="0" y="0"/>
            <a:chExt cx="1791844" cy="496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1844" cy="496722"/>
            </a:xfrm>
            <a:custGeom>
              <a:avLst/>
              <a:gdLst/>
              <a:ahLst/>
              <a:cxnLst/>
              <a:rect r="r" b="b" t="t" l="l"/>
              <a:pathLst>
                <a:path h="496722" w="1791844">
                  <a:moveTo>
                    <a:pt x="57609" y="0"/>
                  </a:moveTo>
                  <a:lnTo>
                    <a:pt x="1734235" y="0"/>
                  </a:lnTo>
                  <a:cubicBezTo>
                    <a:pt x="1766052" y="0"/>
                    <a:pt x="1791844" y="25792"/>
                    <a:pt x="1791844" y="57609"/>
                  </a:cubicBezTo>
                  <a:lnTo>
                    <a:pt x="1791844" y="439114"/>
                  </a:lnTo>
                  <a:cubicBezTo>
                    <a:pt x="1791844" y="454393"/>
                    <a:pt x="1785775" y="469045"/>
                    <a:pt x="1774971" y="479849"/>
                  </a:cubicBezTo>
                  <a:cubicBezTo>
                    <a:pt x="1764167" y="490653"/>
                    <a:pt x="1749514" y="496722"/>
                    <a:pt x="1734235" y="496722"/>
                  </a:cubicBezTo>
                  <a:lnTo>
                    <a:pt x="57609" y="496722"/>
                  </a:lnTo>
                  <a:cubicBezTo>
                    <a:pt x="25792" y="496722"/>
                    <a:pt x="0" y="470930"/>
                    <a:pt x="0" y="439114"/>
                  </a:cubicBezTo>
                  <a:lnTo>
                    <a:pt x="0" y="57609"/>
                  </a:lnTo>
                  <a:cubicBezTo>
                    <a:pt x="0" y="25792"/>
                    <a:pt x="25792" y="0"/>
                    <a:pt x="57609" y="0"/>
                  </a:cubicBez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791844" cy="658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10"/>
                </a:lnSpc>
              </a:pPr>
              <a:r>
                <a:rPr lang="en-US" sz="3499" spc="3">
                  <a:solidFill>
                    <a:srgbClr val="050505"/>
                  </a:solidFill>
                  <a:latin typeface="SK Quadratica"/>
                  <a:ea typeface="SK Quadratica"/>
                  <a:cs typeface="SK Quadratica"/>
                  <a:sym typeface="SK Quadratica"/>
                </a:rPr>
                <a:t>CANY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149952" y="2250530"/>
            <a:ext cx="3209520" cy="1805355"/>
          </a:xfrm>
          <a:custGeom>
            <a:avLst/>
            <a:gdLst/>
            <a:ahLst/>
            <a:cxnLst/>
            <a:rect r="r" b="b" t="t" l="l"/>
            <a:pathLst>
              <a:path h="1805355" w="3209520">
                <a:moveTo>
                  <a:pt x="0" y="0"/>
                </a:moveTo>
                <a:lnTo>
                  <a:pt x="3209520" y="0"/>
                </a:lnTo>
                <a:lnTo>
                  <a:pt x="3209520" y="1805355"/>
                </a:lnTo>
                <a:lnTo>
                  <a:pt x="0" y="18053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7089" y="2250530"/>
            <a:ext cx="3645897" cy="2050817"/>
          </a:xfrm>
          <a:custGeom>
            <a:avLst/>
            <a:gdLst/>
            <a:ahLst/>
            <a:cxnLst/>
            <a:rect r="r" b="b" t="t" l="l"/>
            <a:pathLst>
              <a:path h="2050817" w="3645897">
                <a:moveTo>
                  <a:pt x="0" y="0"/>
                </a:moveTo>
                <a:lnTo>
                  <a:pt x="3645897" y="0"/>
                </a:lnTo>
                <a:lnTo>
                  <a:pt x="3645897" y="2050817"/>
                </a:lnTo>
                <a:lnTo>
                  <a:pt x="0" y="20508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15988" y="4673918"/>
            <a:ext cx="5287396" cy="1424972"/>
            <a:chOff x="0" y="0"/>
            <a:chExt cx="1843101" cy="4967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43101" cy="496722"/>
            </a:xfrm>
            <a:custGeom>
              <a:avLst/>
              <a:gdLst/>
              <a:ahLst/>
              <a:cxnLst/>
              <a:rect r="r" b="b" t="t" l="l"/>
              <a:pathLst>
                <a:path h="496722" w="1843101">
                  <a:moveTo>
                    <a:pt x="56006" y="0"/>
                  </a:moveTo>
                  <a:lnTo>
                    <a:pt x="1787095" y="0"/>
                  </a:lnTo>
                  <a:cubicBezTo>
                    <a:pt x="1801948" y="0"/>
                    <a:pt x="1816194" y="5901"/>
                    <a:pt x="1826697" y="16404"/>
                  </a:cubicBezTo>
                  <a:cubicBezTo>
                    <a:pt x="1837200" y="26907"/>
                    <a:pt x="1843101" y="41153"/>
                    <a:pt x="1843101" y="56006"/>
                  </a:cubicBezTo>
                  <a:lnTo>
                    <a:pt x="1843101" y="440716"/>
                  </a:lnTo>
                  <a:cubicBezTo>
                    <a:pt x="1843101" y="471647"/>
                    <a:pt x="1818026" y="496722"/>
                    <a:pt x="1787095" y="496722"/>
                  </a:cubicBezTo>
                  <a:lnTo>
                    <a:pt x="56006" y="496722"/>
                  </a:lnTo>
                  <a:cubicBezTo>
                    <a:pt x="25075" y="496722"/>
                    <a:pt x="0" y="471647"/>
                    <a:pt x="0" y="440716"/>
                  </a:cubicBezTo>
                  <a:lnTo>
                    <a:pt x="0" y="56006"/>
                  </a:lnTo>
                  <a:cubicBezTo>
                    <a:pt x="0" y="25075"/>
                    <a:pt x="25075" y="0"/>
                    <a:pt x="56006" y="0"/>
                  </a:cubicBez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61925"/>
              <a:ext cx="1843101" cy="658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10"/>
                </a:lnSpc>
              </a:pPr>
              <a:r>
                <a:rPr lang="en-US" sz="3499" spc="3">
                  <a:solidFill>
                    <a:srgbClr val="050505"/>
                  </a:solidFill>
                  <a:latin typeface="SK Quadratica"/>
                  <a:ea typeface="SK Quadratica"/>
                  <a:cs typeface="SK Quadratica"/>
                  <a:sym typeface="SK Quadratica"/>
                </a:rPr>
                <a:t>IDEAL LPF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315988" y="6889879"/>
            <a:ext cx="5881358" cy="2963119"/>
          </a:xfrm>
          <a:custGeom>
            <a:avLst/>
            <a:gdLst/>
            <a:ahLst/>
            <a:cxnLst/>
            <a:rect r="r" b="b" t="t" l="l"/>
            <a:pathLst>
              <a:path h="2963119" w="5881358">
                <a:moveTo>
                  <a:pt x="0" y="0"/>
                </a:moveTo>
                <a:lnTo>
                  <a:pt x="5881358" y="0"/>
                </a:lnTo>
                <a:lnTo>
                  <a:pt x="5881358" y="2963119"/>
                </a:lnTo>
                <a:lnTo>
                  <a:pt x="0" y="2963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412" r="0" b="-10235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0731" y="277123"/>
            <a:ext cx="5140352" cy="1424972"/>
            <a:chOff x="0" y="0"/>
            <a:chExt cx="1791844" cy="496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1844" cy="496722"/>
            </a:xfrm>
            <a:custGeom>
              <a:avLst/>
              <a:gdLst/>
              <a:ahLst/>
              <a:cxnLst/>
              <a:rect r="r" b="b" t="t" l="l"/>
              <a:pathLst>
                <a:path h="496722" w="1791844">
                  <a:moveTo>
                    <a:pt x="57609" y="0"/>
                  </a:moveTo>
                  <a:lnTo>
                    <a:pt x="1734235" y="0"/>
                  </a:lnTo>
                  <a:cubicBezTo>
                    <a:pt x="1766052" y="0"/>
                    <a:pt x="1791844" y="25792"/>
                    <a:pt x="1791844" y="57609"/>
                  </a:cubicBezTo>
                  <a:lnTo>
                    <a:pt x="1791844" y="439114"/>
                  </a:lnTo>
                  <a:cubicBezTo>
                    <a:pt x="1791844" y="454393"/>
                    <a:pt x="1785775" y="469045"/>
                    <a:pt x="1774971" y="479849"/>
                  </a:cubicBezTo>
                  <a:cubicBezTo>
                    <a:pt x="1764167" y="490653"/>
                    <a:pt x="1749514" y="496722"/>
                    <a:pt x="1734235" y="496722"/>
                  </a:cubicBezTo>
                  <a:lnTo>
                    <a:pt x="57609" y="496722"/>
                  </a:lnTo>
                  <a:cubicBezTo>
                    <a:pt x="25792" y="496722"/>
                    <a:pt x="0" y="470930"/>
                    <a:pt x="0" y="439114"/>
                  </a:cubicBezTo>
                  <a:lnTo>
                    <a:pt x="0" y="57609"/>
                  </a:lnTo>
                  <a:cubicBezTo>
                    <a:pt x="0" y="25792"/>
                    <a:pt x="25792" y="0"/>
                    <a:pt x="57609" y="0"/>
                  </a:cubicBez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791844" cy="658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10"/>
                </a:lnSpc>
              </a:pPr>
              <a:r>
                <a:rPr lang="en-US" sz="3499" spc="3">
                  <a:solidFill>
                    <a:srgbClr val="050505"/>
                  </a:solidFill>
                  <a:latin typeface="SK Quadratica"/>
                  <a:ea typeface="SK Quadratica"/>
                  <a:cs typeface="SK Quadratica"/>
                  <a:sym typeface="SK Quadratica"/>
                </a:rPr>
                <a:t>GAUSSAN LPF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46423" y="1910245"/>
            <a:ext cx="5101781" cy="2869752"/>
          </a:xfrm>
          <a:custGeom>
            <a:avLst/>
            <a:gdLst/>
            <a:ahLst/>
            <a:cxnLst/>
            <a:rect r="r" b="b" t="t" l="l"/>
            <a:pathLst>
              <a:path h="2869752" w="5101781">
                <a:moveTo>
                  <a:pt x="0" y="0"/>
                </a:moveTo>
                <a:lnTo>
                  <a:pt x="5101780" y="0"/>
                </a:lnTo>
                <a:lnTo>
                  <a:pt x="5101780" y="2869751"/>
                </a:lnTo>
                <a:lnTo>
                  <a:pt x="0" y="28697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16901" y="5128567"/>
            <a:ext cx="5140352" cy="1424972"/>
            <a:chOff x="0" y="0"/>
            <a:chExt cx="1791844" cy="4967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1844" cy="496722"/>
            </a:xfrm>
            <a:custGeom>
              <a:avLst/>
              <a:gdLst/>
              <a:ahLst/>
              <a:cxnLst/>
              <a:rect r="r" b="b" t="t" l="l"/>
              <a:pathLst>
                <a:path h="496722" w="1791844">
                  <a:moveTo>
                    <a:pt x="57609" y="0"/>
                  </a:moveTo>
                  <a:lnTo>
                    <a:pt x="1734235" y="0"/>
                  </a:lnTo>
                  <a:cubicBezTo>
                    <a:pt x="1766052" y="0"/>
                    <a:pt x="1791844" y="25792"/>
                    <a:pt x="1791844" y="57609"/>
                  </a:cubicBezTo>
                  <a:lnTo>
                    <a:pt x="1791844" y="439114"/>
                  </a:lnTo>
                  <a:cubicBezTo>
                    <a:pt x="1791844" y="454393"/>
                    <a:pt x="1785775" y="469045"/>
                    <a:pt x="1774971" y="479849"/>
                  </a:cubicBezTo>
                  <a:cubicBezTo>
                    <a:pt x="1764167" y="490653"/>
                    <a:pt x="1749514" y="496722"/>
                    <a:pt x="1734235" y="496722"/>
                  </a:cubicBezTo>
                  <a:lnTo>
                    <a:pt x="57609" y="496722"/>
                  </a:lnTo>
                  <a:cubicBezTo>
                    <a:pt x="25792" y="496722"/>
                    <a:pt x="0" y="470930"/>
                    <a:pt x="0" y="439114"/>
                  </a:cubicBezTo>
                  <a:lnTo>
                    <a:pt x="0" y="57609"/>
                  </a:lnTo>
                  <a:cubicBezTo>
                    <a:pt x="0" y="25792"/>
                    <a:pt x="25792" y="0"/>
                    <a:pt x="57609" y="0"/>
                  </a:cubicBez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791844" cy="658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10"/>
                </a:lnSpc>
              </a:pPr>
              <a:r>
                <a:rPr lang="en-US" sz="3499" spc="3">
                  <a:solidFill>
                    <a:srgbClr val="050505"/>
                  </a:solidFill>
                  <a:latin typeface="SK Quadratica"/>
                  <a:ea typeface="SK Quadratica"/>
                  <a:cs typeface="SK Quadratica"/>
                  <a:sym typeface="SK Quadratica"/>
                </a:rPr>
                <a:t>bUTTERWORTH LPF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13740" y="6905964"/>
            <a:ext cx="4803035" cy="2701707"/>
          </a:xfrm>
          <a:custGeom>
            <a:avLst/>
            <a:gdLst/>
            <a:ahLst/>
            <a:cxnLst/>
            <a:rect r="r" b="b" t="t" l="l"/>
            <a:pathLst>
              <a:path h="2701707" w="4803035">
                <a:moveTo>
                  <a:pt x="0" y="0"/>
                </a:moveTo>
                <a:lnTo>
                  <a:pt x="4803035" y="0"/>
                </a:lnTo>
                <a:lnTo>
                  <a:pt x="4803035" y="2701707"/>
                </a:lnTo>
                <a:lnTo>
                  <a:pt x="0" y="27017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3040" y="325787"/>
            <a:ext cx="5140352" cy="1424972"/>
            <a:chOff x="0" y="0"/>
            <a:chExt cx="1791844" cy="496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1844" cy="496722"/>
            </a:xfrm>
            <a:custGeom>
              <a:avLst/>
              <a:gdLst/>
              <a:ahLst/>
              <a:cxnLst/>
              <a:rect r="r" b="b" t="t" l="l"/>
              <a:pathLst>
                <a:path h="496722" w="1791844">
                  <a:moveTo>
                    <a:pt x="57609" y="0"/>
                  </a:moveTo>
                  <a:lnTo>
                    <a:pt x="1734235" y="0"/>
                  </a:lnTo>
                  <a:cubicBezTo>
                    <a:pt x="1766052" y="0"/>
                    <a:pt x="1791844" y="25792"/>
                    <a:pt x="1791844" y="57609"/>
                  </a:cubicBezTo>
                  <a:lnTo>
                    <a:pt x="1791844" y="439114"/>
                  </a:lnTo>
                  <a:cubicBezTo>
                    <a:pt x="1791844" y="454393"/>
                    <a:pt x="1785775" y="469045"/>
                    <a:pt x="1774971" y="479849"/>
                  </a:cubicBezTo>
                  <a:cubicBezTo>
                    <a:pt x="1764167" y="490653"/>
                    <a:pt x="1749514" y="496722"/>
                    <a:pt x="1734235" y="496722"/>
                  </a:cubicBezTo>
                  <a:lnTo>
                    <a:pt x="57609" y="496722"/>
                  </a:lnTo>
                  <a:cubicBezTo>
                    <a:pt x="25792" y="496722"/>
                    <a:pt x="0" y="470930"/>
                    <a:pt x="0" y="439114"/>
                  </a:cubicBezTo>
                  <a:lnTo>
                    <a:pt x="0" y="57609"/>
                  </a:lnTo>
                  <a:cubicBezTo>
                    <a:pt x="0" y="25792"/>
                    <a:pt x="25792" y="0"/>
                    <a:pt x="57609" y="0"/>
                  </a:cubicBez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791844" cy="658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10"/>
                </a:lnSpc>
              </a:pPr>
              <a:r>
                <a:rPr lang="en-US" sz="3499" spc="3">
                  <a:solidFill>
                    <a:srgbClr val="050505"/>
                  </a:solidFill>
                  <a:latin typeface="SK Quadratica"/>
                  <a:ea typeface="SK Quadratica"/>
                  <a:cs typeface="SK Quadratica"/>
                  <a:sym typeface="SK Quadratica"/>
                </a:rPr>
                <a:t>IDEAL HPF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7240" y="2724485"/>
            <a:ext cx="5032767" cy="2830931"/>
          </a:xfrm>
          <a:custGeom>
            <a:avLst/>
            <a:gdLst/>
            <a:ahLst/>
            <a:cxnLst/>
            <a:rect r="r" b="b" t="t" l="l"/>
            <a:pathLst>
              <a:path h="2830931" w="5032767">
                <a:moveTo>
                  <a:pt x="0" y="0"/>
                </a:moveTo>
                <a:lnTo>
                  <a:pt x="5032767" y="0"/>
                </a:lnTo>
                <a:lnTo>
                  <a:pt x="5032767" y="2830932"/>
                </a:lnTo>
                <a:lnTo>
                  <a:pt x="0" y="28309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3131" y="119266"/>
            <a:ext cx="5140352" cy="1424972"/>
            <a:chOff x="0" y="0"/>
            <a:chExt cx="1791844" cy="496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1844" cy="496722"/>
            </a:xfrm>
            <a:custGeom>
              <a:avLst/>
              <a:gdLst/>
              <a:ahLst/>
              <a:cxnLst/>
              <a:rect r="r" b="b" t="t" l="l"/>
              <a:pathLst>
                <a:path h="496722" w="1791844">
                  <a:moveTo>
                    <a:pt x="57609" y="0"/>
                  </a:moveTo>
                  <a:lnTo>
                    <a:pt x="1734235" y="0"/>
                  </a:lnTo>
                  <a:cubicBezTo>
                    <a:pt x="1766052" y="0"/>
                    <a:pt x="1791844" y="25792"/>
                    <a:pt x="1791844" y="57609"/>
                  </a:cubicBezTo>
                  <a:lnTo>
                    <a:pt x="1791844" y="439114"/>
                  </a:lnTo>
                  <a:cubicBezTo>
                    <a:pt x="1791844" y="454393"/>
                    <a:pt x="1785775" y="469045"/>
                    <a:pt x="1774971" y="479849"/>
                  </a:cubicBezTo>
                  <a:cubicBezTo>
                    <a:pt x="1764167" y="490653"/>
                    <a:pt x="1749514" y="496722"/>
                    <a:pt x="1734235" y="496722"/>
                  </a:cubicBezTo>
                  <a:lnTo>
                    <a:pt x="57609" y="496722"/>
                  </a:lnTo>
                  <a:cubicBezTo>
                    <a:pt x="25792" y="496722"/>
                    <a:pt x="0" y="470930"/>
                    <a:pt x="0" y="439114"/>
                  </a:cubicBezTo>
                  <a:lnTo>
                    <a:pt x="0" y="57609"/>
                  </a:lnTo>
                  <a:cubicBezTo>
                    <a:pt x="0" y="25792"/>
                    <a:pt x="25792" y="0"/>
                    <a:pt x="57609" y="0"/>
                  </a:cubicBez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791844" cy="658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10"/>
                </a:lnSpc>
              </a:pPr>
              <a:r>
                <a:rPr lang="en-US" sz="3499" spc="3">
                  <a:solidFill>
                    <a:srgbClr val="050505"/>
                  </a:solidFill>
                  <a:latin typeface="SK Quadratica"/>
                  <a:ea typeface="SK Quadratica"/>
                  <a:cs typeface="SK Quadratica"/>
                  <a:sym typeface="SK Quadratica"/>
                </a:rPr>
                <a:t>bUTTERWORTH HPF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7240" y="1800336"/>
            <a:ext cx="5325512" cy="2995601"/>
          </a:xfrm>
          <a:custGeom>
            <a:avLst/>
            <a:gdLst/>
            <a:ahLst/>
            <a:cxnLst/>
            <a:rect r="r" b="b" t="t" l="l"/>
            <a:pathLst>
              <a:path h="2995601" w="5325512">
                <a:moveTo>
                  <a:pt x="0" y="0"/>
                </a:moveTo>
                <a:lnTo>
                  <a:pt x="5325512" y="0"/>
                </a:lnTo>
                <a:lnTo>
                  <a:pt x="5325512" y="2995600"/>
                </a:lnTo>
                <a:lnTo>
                  <a:pt x="0" y="2995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73131" y="5029200"/>
            <a:ext cx="5140352" cy="1424972"/>
            <a:chOff x="0" y="0"/>
            <a:chExt cx="1791844" cy="4967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1844" cy="496722"/>
            </a:xfrm>
            <a:custGeom>
              <a:avLst/>
              <a:gdLst/>
              <a:ahLst/>
              <a:cxnLst/>
              <a:rect r="r" b="b" t="t" l="l"/>
              <a:pathLst>
                <a:path h="496722" w="1791844">
                  <a:moveTo>
                    <a:pt x="57609" y="0"/>
                  </a:moveTo>
                  <a:lnTo>
                    <a:pt x="1734235" y="0"/>
                  </a:lnTo>
                  <a:cubicBezTo>
                    <a:pt x="1766052" y="0"/>
                    <a:pt x="1791844" y="25792"/>
                    <a:pt x="1791844" y="57609"/>
                  </a:cubicBezTo>
                  <a:lnTo>
                    <a:pt x="1791844" y="439114"/>
                  </a:lnTo>
                  <a:cubicBezTo>
                    <a:pt x="1791844" y="454393"/>
                    <a:pt x="1785775" y="469045"/>
                    <a:pt x="1774971" y="479849"/>
                  </a:cubicBezTo>
                  <a:cubicBezTo>
                    <a:pt x="1764167" y="490653"/>
                    <a:pt x="1749514" y="496722"/>
                    <a:pt x="1734235" y="496722"/>
                  </a:cubicBezTo>
                  <a:lnTo>
                    <a:pt x="57609" y="496722"/>
                  </a:lnTo>
                  <a:cubicBezTo>
                    <a:pt x="25792" y="496722"/>
                    <a:pt x="0" y="470930"/>
                    <a:pt x="0" y="439114"/>
                  </a:cubicBezTo>
                  <a:lnTo>
                    <a:pt x="0" y="57609"/>
                  </a:lnTo>
                  <a:cubicBezTo>
                    <a:pt x="0" y="25792"/>
                    <a:pt x="25792" y="0"/>
                    <a:pt x="57609" y="0"/>
                  </a:cubicBez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791844" cy="658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10"/>
                </a:lnSpc>
              </a:pPr>
              <a:r>
                <a:rPr lang="en-US" sz="3499" spc="3">
                  <a:solidFill>
                    <a:srgbClr val="050505"/>
                  </a:solidFill>
                  <a:latin typeface="SK Quadratica"/>
                  <a:ea typeface="SK Quadratica"/>
                  <a:cs typeface="SK Quadratica"/>
                  <a:sym typeface="SK Quadratica"/>
                </a:rPr>
                <a:t>ARITHMITIC MEAN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36514" y="6711347"/>
            <a:ext cx="5325512" cy="2995601"/>
          </a:xfrm>
          <a:custGeom>
            <a:avLst/>
            <a:gdLst/>
            <a:ahLst/>
            <a:cxnLst/>
            <a:rect r="r" b="b" t="t" l="l"/>
            <a:pathLst>
              <a:path h="2995601" w="5325512">
                <a:moveTo>
                  <a:pt x="0" y="0"/>
                </a:moveTo>
                <a:lnTo>
                  <a:pt x="5325512" y="0"/>
                </a:lnTo>
                <a:lnTo>
                  <a:pt x="5325512" y="2995601"/>
                </a:lnTo>
                <a:lnTo>
                  <a:pt x="0" y="29956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8236" y="179031"/>
            <a:ext cx="5140352" cy="1424972"/>
            <a:chOff x="0" y="0"/>
            <a:chExt cx="1791844" cy="4967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91844" cy="496722"/>
            </a:xfrm>
            <a:custGeom>
              <a:avLst/>
              <a:gdLst/>
              <a:ahLst/>
              <a:cxnLst/>
              <a:rect r="r" b="b" t="t" l="l"/>
              <a:pathLst>
                <a:path h="496722" w="1791844">
                  <a:moveTo>
                    <a:pt x="57609" y="0"/>
                  </a:moveTo>
                  <a:lnTo>
                    <a:pt x="1734235" y="0"/>
                  </a:lnTo>
                  <a:cubicBezTo>
                    <a:pt x="1766052" y="0"/>
                    <a:pt x="1791844" y="25792"/>
                    <a:pt x="1791844" y="57609"/>
                  </a:cubicBezTo>
                  <a:lnTo>
                    <a:pt x="1791844" y="439114"/>
                  </a:lnTo>
                  <a:cubicBezTo>
                    <a:pt x="1791844" y="454393"/>
                    <a:pt x="1785775" y="469045"/>
                    <a:pt x="1774971" y="479849"/>
                  </a:cubicBezTo>
                  <a:cubicBezTo>
                    <a:pt x="1764167" y="490653"/>
                    <a:pt x="1749514" y="496722"/>
                    <a:pt x="1734235" y="496722"/>
                  </a:cubicBezTo>
                  <a:lnTo>
                    <a:pt x="57609" y="496722"/>
                  </a:lnTo>
                  <a:cubicBezTo>
                    <a:pt x="25792" y="496722"/>
                    <a:pt x="0" y="470930"/>
                    <a:pt x="0" y="439114"/>
                  </a:cubicBezTo>
                  <a:lnTo>
                    <a:pt x="0" y="57609"/>
                  </a:lnTo>
                  <a:cubicBezTo>
                    <a:pt x="0" y="25792"/>
                    <a:pt x="25792" y="0"/>
                    <a:pt x="57609" y="0"/>
                  </a:cubicBez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61925"/>
              <a:ext cx="1791844" cy="658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10"/>
                </a:lnSpc>
              </a:pPr>
              <a:r>
                <a:rPr lang="en-US" sz="3499" spc="3">
                  <a:solidFill>
                    <a:srgbClr val="050505"/>
                  </a:solidFill>
                  <a:latin typeface="SK Quadratica"/>
                  <a:ea typeface="SK Quadratica"/>
                  <a:cs typeface="SK Quadratica"/>
                  <a:sym typeface="SK Quadratica"/>
                </a:rPr>
                <a:t>gEOMETRIC MEAN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77240" y="1988498"/>
            <a:ext cx="4803035" cy="2701707"/>
          </a:xfrm>
          <a:custGeom>
            <a:avLst/>
            <a:gdLst/>
            <a:ahLst/>
            <a:cxnLst/>
            <a:rect r="r" b="b" t="t" l="l"/>
            <a:pathLst>
              <a:path h="2701707" w="4803035">
                <a:moveTo>
                  <a:pt x="0" y="0"/>
                </a:moveTo>
                <a:lnTo>
                  <a:pt x="4803035" y="0"/>
                </a:lnTo>
                <a:lnTo>
                  <a:pt x="4803035" y="2701707"/>
                </a:lnTo>
                <a:lnTo>
                  <a:pt x="0" y="27017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08582" y="4920125"/>
            <a:ext cx="5140352" cy="1424972"/>
            <a:chOff x="0" y="0"/>
            <a:chExt cx="1791844" cy="49672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91844" cy="496722"/>
            </a:xfrm>
            <a:custGeom>
              <a:avLst/>
              <a:gdLst/>
              <a:ahLst/>
              <a:cxnLst/>
              <a:rect r="r" b="b" t="t" l="l"/>
              <a:pathLst>
                <a:path h="496722" w="1791844">
                  <a:moveTo>
                    <a:pt x="57609" y="0"/>
                  </a:moveTo>
                  <a:lnTo>
                    <a:pt x="1734235" y="0"/>
                  </a:lnTo>
                  <a:cubicBezTo>
                    <a:pt x="1766052" y="0"/>
                    <a:pt x="1791844" y="25792"/>
                    <a:pt x="1791844" y="57609"/>
                  </a:cubicBezTo>
                  <a:lnTo>
                    <a:pt x="1791844" y="439114"/>
                  </a:lnTo>
                  <a:cubicBezTo>
                    <a:pt x="1791844" y="454393"/>
                    <a:pt x="1785775" y="469045"/>
                    <a:pt x="1774971" y="479849"/>
                  </a:cubicBezTo>
                  <a:cubicBezTo>
                    <a:pt x="1764167" y="490653"/>
                    <a:pt x="1749514" y="496722"/>
                    <a:pt x="1734235" y="496722"/>
                  </a:cubicBezTo>
                  <a:lnTo>
                    <a:pt x="57609" y="496722"/>
                  </a:lnTo>
                  <a:cubicBezTo>
                    <a:pt x="25792" y="496722"/>
                    <a:pt x="0" y="470930"/>
                    <a:pt x="0" y="439114"/>
                  </a:cubicBezTo>
                  <a:lnTo>
                    <a:pt x="0" y="57609"/>
                  </a:lnTo>
                  <a:cubicBezTo>
                    <a:pt x="0" y="25792"/>
                    <a:pt x="25792" y="0"/>
                    <a:pt x="57609" y="0"/>
                  </a:cubicBezTo>
                  <a:close/>
                </a:path>
              </a:pathLst>
            </a:custGeom>
            <a:solidFill>
              <a:srgbClr val="FDF9B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61925"/>
              <a:ext cx="1791844" cy="6586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410"/>
                </a:lnSpc>
              </a:pPr>
              <a:r>
                <a:rPr lang="en-US" sz="3499" spc="3">
                  <a:solidFill>
                    <a:srgbClr val="050505"/>
                  </a:solidFill>
                  <a:latin typeface="SK Quadratica"/>
                  <a:ea typeface="SK Quadratica"/>
                  <a:cs typeface="SK Quadratica"/>
                  <a:sym typeface="SK Quadratica"/>
                </a:rPr>
                <a:t>hARMONIC MEAN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77240" y="6726097"/>
            <a:ext cx="4399275" cy="2474592"/>
          </a:xfrm>
          <a:custGeom>
            <a:avLst/>
            <a:gdLst/>
            <a:ahLst/>
            <a:cxnLst/>
            <a:rect r="r" b="b" t="t" l="l"/>
            <a:pathLst>
              <a:path h="2474592" w="4399275">
                <a:moveTo>
                  <a:pt x="0" y="0"/>
                </a:moveTo>
                <a:lnTo>
                  <a:pt x="4399275" y="0"/>
                </a:lnTo>
                <a:lnTo>
                  <a:pt x="4399275" y="2474592"/>
                </a:lnTo>
                <a:lnTo>
                  <a:pt x="0" y="24745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DAG8Qtvm_r4</dc:identifier>
  <dcterms:modified xsi:type="dcterms:W3CDTF">2011-08-01T06:04:30Z</dcterms:modified>
  <cp:revision>1</cp:revision>
  <dc:title>Image Processing Report Full.pdf</dc:title>
</cp:coreProperties>
</file>